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9"/>
  </p:notes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91" r:id="rId12"/>
    <p:sldId id="272" r:id="rId13"/>
    <p:sldId id="273" r:id="rId14"/>
    <p:sldId id="274" r:id="rId15"/>
    <p:sldId id="275" r:id="rId16"/>
    <p:sldId id="276" r:id="rId17"/>
    <p:sldId id="277" r:id="rId18"/>
    <p:sldId id="281" r:id="rId19"/>
    <p:sldId id="278" r:id="rId20"/>
    <p:sldId id="279" r:id="rId21"/>
    <p:sldId id="280" r:id="rId22"/>
    <p:sldId id="282" r:id="rId23"/>
    <p:sldId id="284" r:id="rId24"/>
    <p:sldId id="285" r:id="rId25"/>
    <p:sldId id="286" r:id="rId26"/>
    <p:sldId id="287" r:id="rId27"/>
    <p:sldId id="288" r:id="rId28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CCF6E3-E209-403A-89F5-AF0852BBD81A}" v="6" dt="2026-04-01T18:49:31.1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4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AM GHOSHAL" userId="ca766ac05346c49f" providerId="LiveId" clId="{6268C1D3-A018-4860-98E9-BAD81611F207}"/>
    <pc:docChg chg="undo custSel addSld delSld modSld sldOrd">
      <pc:chgData name="SHUBHAM GHOSHAL" userId="ca766ac05346c49f" providerId="LiveId" clId="{6268C1D3-A018-4860-98E9-BAD81611F207}" dt="2026-04-01T18:54:42.610" v="73" actId="20577"/>
      <pc:docMkLst>
        <pc:docMk/>
      </pc:docMkLst>
      <pc:sldChg chg="modSp mod">
        <pc:chgData name="SHUBHAM GHOSHAL" userId="ca766ac05346c49f" providerId="LiveId" clId="{6268C1D3-A018-4860-98E9-BAD81611F207}" dt="2026-04-01T18:48:59.546" v="54" actId="208"/>
        <pc:sldMkLst>
          <pc:docMk/>
          <pc:sldMk cId="0" sldId="260"/>
        </pc:sldMkLst>
        <pc:spChg chg="mod">
          <ac:chgData name="SHUBHAM GHOSHAL" userId="ca766ac05346c49f" providerId="LiveId" clId="{6268C1D3-A018-4860-98E9-BAD81611F207}" dt="2026-04-01T18:48:59.546" v="54" actId="208"/>
          <ac:spMkLst>
            <pc:docMk/>
            <pc:sldMk cId="0" sldId="260"/>
            <ac:spMk id="8" creationId="{00000000-0000-0000-0000-000000000000}"/>
          </ac:spMkLst>
        </pc:spChg>
      </pc:sldChg>
      <pc:sldChg chg="delSp modSp mod">
        <pc:chgData name="SHUBHAM GHOSHAL" userId="ca766ac05346c49f" providerId="LiveId" clId="{6268C1D3-A018-4860-98E9-BAD81611F207}" dt="2026-04-01T18:38:07.447" v="1" actId="14100"/>
        <pc:sldMkLst>
          <pc:docMk/>
          <pc:sldMk cId="0" sldId="265"/>
        </pc:sldMkLst>
        <pc:spChg chg="mod">
          <ac:chgData name="SHUBHAM GHOSHAL" userId="ca766ac05346c49f" providerId="LiveId" clId="{6268C1D3-A018-4860-98E9-BAD81611F207}" dt="2026-04-01T18:38:07.447" v="1" actId="14100"/>
          <ac:spMkLst>
            <pc:docMk/>
            <pc:sldMk cId="0" sldId="265"/>
            <ac:spMk id="4" creationId="{00000000-0000-0000-0000-000000000000}"/>
          </ac:spMkLst>
        </pc:spChg>
        <pc:picChg chg="del">
          <ac:chgData name="SHUBHAM GHOSHAL" userId="ca766ac05346c49f" providerId="LiveId" clId="{6268C1D3-A018-4860-98E9-BAD81611F207}" dt="2026-04-01T18:37:59.765" v="0" actId="478"/>
          <ac:picMkLst>
            <pc:docMk/>
            <pc:sldMk cId="0" sldId="265"/>
            <ac:picMk id="3" creationId="{00000000-0000-0000-0000-000000000000}"/>
          </ac:picMkLst>
        </pc:picChg>
      </pc:sldChg>
      <pc:sldChg chg="addSp modSp mod">
        <pc:chgData name="SHUBHAM GHOSHAL" userId="ca766ac05346c49f" providerId="LiveId" clId="{6268C1D3-A018-4860-98E9-BAD81611F207}" dt="2026-04-01T18:41:07.861" v="17" actId="12385"/>
        <pc:sldMkLst>
          <pc:docMk/>
          <pc:sldMk cId="0" sldId="267"/>
        </pc:sldMkLst>
        <pc:graphicFrameChg chg="add mod modGraphic">
          <ac:chgData name="SHUBHAM GHOSHAL" userId="ca766ac05346c49f" providerId="LiveId" clId="{6268C1D3-A018-4860-98E9-BAD81611F207}" dt="2026-04-01T18:41:07.861" v="17" actId="12385"/>
          <ac:graphicFrameMkLst>
            <pc:docMk/>
            <pc:sldMk cId="0" sldId="267"/>
            <ac:graphicFrameMk id="27" creationId="{9D8B54B7-D914-2FB2-CD69-E03D46D0946B}"/>
          </ac:graphicFrameMkLst>
        </pc:graphicFrameChg>
      </pc:sldChg>
      <pc:sldChg chg="modSp mod">
        <pc:chgData name="SHUBHAM GHOSHAL" userId="ca766ac05346c49f" providerId="LiveId" clId="{6268C1D3-A018-4860-98E9-BAD81611F207}" dt="2026-04-01T18:54:42.610" v="73" actId="20577"/>
        <pc:sldMkLst>
          <pc:docMk/>
          <pc:sldMk cId="0" sldId="276"/>
        </pc:sldMkLst>
        <pc:spChg chg="mod">
          <ac:chgData name="SHUBHAM GHOSHAL" userId="ca766ac05346c49f" providerId="LiveId" clId="{6268C1D3-A018-4860-98E9-BAD81611F207}" dt="2026-04-01T18:54:42.610" v="73" actId="20577"/>
          <ac:spMkLst>
            <pc:docMk/>
            <pc:sldMk cId="0" sldId="276"/>
            <ac:spMk id="9" creationId="{00000000-0000-0000-0000-000000000000}"/>
          </ac:spMkLst>
        </pc:spChg>
      </pc:sldChg>
      <pc:sldChg chg="ord">
        <pc:chgData name="SHUBHAM GHOSHAL" userId="ca766ac05346c49f" providerId="LiveId" clId="{6268C1D3-A018-4860-98E9-BAD81611F207}" dt="2026-04-01T18:47:02.651" v="52"/>
        <pc:sldMkLst>
          <pc:docMk/>
          <pc:sldMk cId="0" sldId="281"/>
        </pc:sldMkLst>
      </pc:sldChg>
      <pc:sldChg chg="del">
        <pc:chgData name="SHUBHAM GHOSHAL" userId="ca766ac05346c49f" providerId="LiveId" clId="{6268C1D3-A018-4860-98E9-BAD81611F207}" dt="2026-04-01T18:47:30.489" v="53" actId="2696"/>
        <pc:sldMkLst>
          <pc:docMk/>
          <pc:sldMk cId="0" sldId="283"/>
        </pc:sldMkLst>
      </pc:sldChg>
      <pc:sldChg chg="modSp del mod">
        <pc:chgData name="SHUBHAM GHOSHAL" userId="ca766ac05346c49f" providerId="LiveId" clId="{6268C1D3-A018-4860-98E9-BAD81611F207}" dt="2026-04-01T18:44:35.748" v="50" actId="2696"/>
        <pc:sldMkLst>
          <pc:docMk/>
          <pc:sldMk cId="2919674144" sldId="289"/>
        </pc:sldMkLst>
        <pc:graphicFrameChg chg="modGraphic">
          <ac:chgData name="SHUBHAM GHOSHAL" userId="ca766ac05346c49f" providerId="LiveId" clId="{6268C1D3-A018-4860-98E9-BAD81611F207}" dt="2026-04-01T18:39:15.499" v="7" actId="14734"/>
          <ac:graphicFrameMkLst>
            <pc:docMk/>
            <pc:sldMk cId="2919674144" sldId="289"/>
            <ac:graphicFrameMk id="2" creationId="{D80785D8-E997-A07B-ACEE-91141DB821DD}"/>
          </ac:graphicFrameMkLst>
        </pc:graphicFrameChg>
      </pc:sldChg>
      <pc:sldChg chg="add del setBg">
        <pc:chgData name="SHUBHAM GHOSHAL" userId="ca766ac05346c49f" providerId="LiveId" clId="{6268C1D3-A018-4860-98E9-BAD81611F207}" dt="2026-04-01T18:44:30.929" v="49" actId="2696"/>
        <pc:sldMkLst>
          <pc:docMk/>
          <pc:sldMk cId="4257123727" sldId="290"/>
        </pc:sldMkLst>
      </pc:sldChg>
      <pc:sldChg chg="addSp delSp modSp add mod setBg">
        <pc:chgData name="SHUBHAM GHOSHAL" userId="ca766ac05346c49f" providerId="LiveId" clId="{6268C1D3-A018-4860-98E9-BAD81611F207}" dt="2026-04-01T18:44:06.732" v="48" actId="14100"/>
        <pc:sldMkLst>
          <pc:docMk/>
          <pc:sldMk cId="2437005085" sldId="291"/>
        </pc:sldMkLst>
        <pc:spChg chg="add del">
          <ac:chgData name="SHUBHAM GHOSHAL" userId="ca766ac05346c49f" providerId="LiveId" clId="{6268C1D3-A018-4860-98E9-BAD81611F207}" dt="2026-04-01T18:42:30.791" v="23" actId="478"/>
          <ac:spMkLst>
            <pc:docMk/>
            <pc:sldMk cId="2437005085" sldId="291"/>
            <ac:spMk id="2" creationId="{4BC7281A-E433-1410-AAFE-EF8C0B72B12C}"/>
          </ac:spMkLst>
        </pc:spChg>
        <pc:spChg chg="add del mod">
          <ac:chgData name="SHUBHAM GHOSHAL" userId="ca766ac05346c49f" providerId="LiveId" clId="{6268C1D3-A018-4860-98E9-BAD81611F207}" dt="2026-04-01T18:44:06.732" v="48" actId="14100"/>
          <ac:spMkLst>
            <pc:docMk/>
            <pc:sldMk cId="2437005085" sldId="291"/>
            <ac:spMk id="4" creationId="{BC5CDC6E-893B-62EF-07E7-5FEE813050D6}"/>
          </ac:spMkLst>
        </pc:spChg>
        <pc:picChg chg="add del">
          <ac:chgData name="SHUBHAM GHOSHAL" userId="ca766ac05346c49f" providerId="LiveId" clId="{6268C1D3-A018-4860-98E9-BAD81611F207}" dt="2026-04-01T18:43:54.996" v="46" actId="478"/>
          <ac:picMkLst>
            <pc:docMk/>
            <pc:sldMk cId="2437005085" sldId="291"/>
            <ac:picMk id="3" creationId="{E30122E1-1A94-5B77-2103-8B2627BE58F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9801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CD529-1F6B-63B9-EEB0-066BAD21F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9FEF78-5EFB-8E3A-4C2E-7BA823095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10BFC9-3964-34D8-2080-533A7AD533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2DC2A-6721-2EEC-0ED8-BB9C7CD207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315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27093-B162-BDBC-2D39-2ABB507CFE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78FA0-BCAD-34C7-D5D9-DC32917BF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F4BC0-8C4F-E32D-44DE-0600CA763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5840C-077D-498A-A14C-31956F5AB55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344BB-3531-90B9-30A0-636151983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0FD70-7368-61CC-79EC-AB2C8614C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9A7A-F8F9-4035-9EBA-EE0886787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28435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4B60-0129-3858-82CC-23F05A900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3CBD4-832C-746E-2B27-9D893E986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8E440-B15F-F227-DEC8-C7E0C0F02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5840C-077D-498A-A14C-31956F5AB55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29E95-0B7B-0AB7-44FF-3D040448C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C2783-2727-D18C-C2FB-EBE0DF3E0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9A7A-F8F9-4035-9EBA-EE0886787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30902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57F43-3807-3FF9-F59A-FCBD536C0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116E8-609B-744F-38AF-B0A6490A2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F2F80-683D-F793-7EF9-15410EC2A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5840C-077D-498A-A14C-31956F5AB55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7B6B4-27E1-8B55-26C4-2782D9E4F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168D4-5B5D-DDF5-25EA-056CC7E95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9A7A-F8F9-4035-9EBA-EE0886787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06351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0D880-BD3A-CDFF-4131-3E9607305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C2E95-E466-2614-C768-6778500F1B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705BA1-73FF-BC5F-3A42-D79F5A40E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58D80-2BFC-F65F-CF78-DF5AF61E6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5840C-077D-498A-A14C-31956F5AB55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307A2E-6E1C-E6AD-F9E8-C72CECB75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8579B-DBEA-7411-B0F6-C47E9E51B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9A7A-F8F9-4035-9EBA-EE0886787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45335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734D5-5C29-801A-4B91-5E74AE950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D6D47-74A2-460B-AF18-999D59D43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51C06-D9F5-AFF1-5558-DA88E07C4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5F0117-9BBF-2D24-B38D-A289C83AB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4C9EF5-EDDC-D53A-E936-59E7313EC2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D4C1AA-B2E3-6F47-AF07-AFFAEB57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5840C-077D-498A-A14C-31956F5AB55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7E87ED-3199-9E74-36EF-766CBF724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216210-4269-07D1-51E4-7257CEBCD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9A7A-F8F9-4035-9EBA-EE0886787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8445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8D050-DA85-65BC-EEDD-E66DC5D94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593770-B1E4-2502-05F3-24B7F3279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5840C-077D-498A-A14C-31956F5AB55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D38623-C9D1-1CFF-EEFB-B3A4D9EF1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AF67FD-F92D-2DCA-68C7-3CB88AA39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9A7A-F8F9-4035-9EBA-EE0886787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88852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3749F0-F1BE-17C3-FFAA-DF64BDD69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5840C-077D-498A-A14C-31956F5AB55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4B3183-2984-9580-7EC9-A4242A850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4129F-3804-C9AA-B73E-EBD7368F1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9A7A-F8F9-4035-9EBA-EE0886787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5485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13C9F-93B0-15A8-8CFF-21D583195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0929D-6916-9746-1923-3C739EF69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7B476B-407F-EEDC-015B-B68AEB52E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4B3D5-6859-9537-F19C-78A3F5CAF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5840C-077D-498A-A14C-31956F5AB55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10017-211C-0B8B-B3A8-66D4D19DE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6608F-6015-CA67-C8A2-8432E0175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9A7A-F8F9-4035-9EBA-EE0886787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36362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9B7B-49E8-DF32-A076-702231C6E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DCFD17-657E-3BEF-4E68-2557BCC7AD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19D7B-14D9-495F-433C-41A4A6029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567B90-A254-9EEE-8C73-993DE059F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5840C-077D-498A-A14C-31956F5AB55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DF2B6-3304-59F2-167B-7FE234F44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95483-514A-96C0-7832-362C17AFD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9A7A-F8F9-4035-9EBA-EE0886787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07935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E4B5D-AE05-DFDD-19AE-7AD1494A2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66C83F-63B3-D4E8-855A-E465BBE22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880E5-136B-957B-8D27-B0BA524B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5840C-077D-498A-A14C-31956F5AB55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F0244-BF95-D002-8717-55A5CCADD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BAB06-DE50-CD6D-5216-1313329BD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9A7A-F8F9-4035-9EBA-EE0886787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27341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3F358E-4FC9-EAB6-5CD4-F5B7CA68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660DEE-A2E9-9FB5-C372-C2EB8D9CF5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476A2-7363-1F0F-4D11-CE48C0B75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5840C-077D-498A-A14C-31956F5AB55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C1E46-DF5A-7E74-A76F-6609E5048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63F85-044D-D31E-9A05-A1A60D5FF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9A7A-F8F9-4035-9EBA-EE0886787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79478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6736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7CD04E-A45C-4E80-6500-1A2DEC565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0A145-56D7-E9A2-1BCB-7B257FB1B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1DDDA-FECA-1A82-724B-4D327A30B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65840C-077D-498A-A14C-31956F5AB55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6C801-B37D-E734-9B44-365481E8DD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417E7-5685-F9F5-54EA-C49F7572E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D89A7A-F8F9-4035-9EBA-EE0886787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048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30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biodiesel_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2296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0116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AGRICULTURAL SCIENCES, BENGALURU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5943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6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Agriculture, GKVK – 560065  |  EAI-421: Application of AI &amp; ML in Agriculture (0+10)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274320" y="960120"/>
            <a:ext cx="8595360" cy="27432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1097280"/>
            <a:ext cx="8503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A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AI-Based Optimisation &amp;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A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of Biodiesel Production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320040" y="29718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E8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Oilseed Crops, Used Cooking Oil (UCO) &amp; Agricultural Wastes</a:t>
            </a:r>
            <a:endParaRPr lang="en-US" sz="1600" dirty="0"/>
          </a:p>
          <a:p>
            <a:pPr marL="0" indent="0" algn="l">
              <a:buNone/>
            </a:pPr>
            <a:r>
              <a:rPr lang="en-US" sz="1600" i="1" dirty="0">
                <a:solidFill>
                  <a:srgbClr val="E8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74320" y="3657600"/>
            <a:ext cx="8595360" cy="27432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373075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 |  Academic Year: 2025–26  |  Course Teacher – AI &amp; ML in Agriculture, COA, UAS, GKVK</a:t>
            </a:r>
            <a:endParaRPr lang="en-US" sz="9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41148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A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MEMBERS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98348" y="1851660"/>
            <a:ext cx="2560320" cy="1636776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3"/>
          <p:cNvSpPr/>
          <p:nvPr/>
        </p:nvSpPr>
        <p:spPr>
          <a:xfrm>
            <a:off x="498348" y="1844099"/>
            <a:ext cx="2560320" cy="109728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35608" y="160020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2252413"/>
            <a:ext cx="2286000" cy="993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Ghoshal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22960" y="3291840"/>
            <a:ext cx="1920240" cy="411480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AMB2245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463112" y="1842516"/>
            <a:ext cx="2560320" cy="1636776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74720" y="1840230"/>
            <a:ext cx="2560320" cy="109728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07408" y="160020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611880" y="2252413"/>
            <a:ext cx="2286000" cy="993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Hani Kenki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3794760" y="3291840"/>
            <a:ext cx="1920240" cy="411480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94760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AMB2078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46520" y="1833372"/>
            <a:ext cx="2560320" cy="1636776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46520" y="1833372"/>
            <a:ext cx="2560320" cy="109728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79208" y="160020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583680" y="2252413"/>
            <a:ext cx="2286000" cy="993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Akumtoshi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6766560" y="3291840"/>
            <a:ext cx="1920240" cy="411480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66560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AMB2014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Course Teacher – AI &amp; ML in Agriculture, COA, UAS, GKVK – Bengaluru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— Global Energy Crisis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82880" y="1097280"/>
            <a:ext cx="4206240" cy="173736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82880" y="1097280"/>
            <a:ext cx="4206240" cy="82296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1280160"/>
            <a:ext cx="475488" cy="4754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" y="1207008"/>
            <a:ext cx="33101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USA–Iran Tensions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47472" y="1737360"/>
            <a:ext cx="38770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Strait of Hormuz carries ~20% of world oil. Conflicts spike prices &amp; cause global fuel shortages.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572000" y="1097280"/>
            <a:ext cx="4206240" cy="173736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72000" y="1097280"/>
            <a:ext cx="4206240" cy="82296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280160"/>
            <a:ext cx="475488" cy="4754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21808" y="1207008"/>
            <a:ext cx="33101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India's Oil Dependency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736592" y="1737360"/>
            <a:ext cx="38770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imports 85%+ of petroleum from Saudi Arabia, Iraq &amp; UAE. Any disruption can paralyze the economy.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182880" y="2999232"/>
            <a:ext cx="4206240" cy="173736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182880" y="2999232"/>
            <a:ext cx="4206240" cy="82296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3182112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32688" y="3108960"/>
            <a:ext cx="33101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LPG Supply Crisis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347472" y="3639312"/>
            <a:ext cx="38770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LPG prices have forced millions of rural Indian households back to biomass cooking.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572000" y="2999232"/>
            <a:ext cx="4206240" cy="173736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572000" y="2999232"/>
            <a:ext cx="4206240" cy="82296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3182112"/>
            <a:ext cx="475488" cy="4754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21808" y="3108960"/>
            <a:ext cx="33101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Climate Change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4736592" y="3639312"/>
            <a:ext cx="38770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Burning fossil fuels releases CO₂, accelerating global warming. India committed to net-zero by 2070.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— Biodiesel: The Agricultural Answer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28600" y="1097280"/>
            <a:ext cx="1737360" cy="960120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28600" y="109728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 Oils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Fats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011680" y="1540764"/>
            <a:ext cx="484632" cy="73152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542032" y="1097280"/>
            <a:ext cx="1737360" cy="960120"/>
          </a:xfrm>
          <a:prstGeom prst="rect">
            <a:avLst/>
          </a:prstGeom>
          <a:solidFill>
            <a:srgbClr val="2C2C2C"/>
          </a:solidFill>
          <a:ln w="12700">
            <a:solidFill>
              <a:schemeClr val="accent4">
                <a:lumMod val="75000"/>
              </a:schemeClr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542032" y="109728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Methanol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Catalyst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(KOH/NaOH)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25112" y="1540764"/>
            <a:ext cx="484632" cy="73152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55464" y="1097280"/>
            <a:ext cx="1737360" cy="960120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55464" y="109728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Transesterification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638544" y="1540764"/>
            <a:ext cx="484632" cy="73152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68896" y="1097280"/>
            <a:ext cx="1737360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168896" y="109728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Biodiesel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Glycerol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20040" y="228600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Feedstocks Available in India: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56032" y="2743200"/>
            <a:ext cx="1508760" cy="1508760"/>
          </a:xfrm>
          <a:prstGeom prst="rect">
            <a:avLst/>
          </a:prstGeom>
          <a:solidFill>
            <a:srgbClr val="2C2C2C"/>
          </a:solidFill>
          <a:ln w="12700">
            <a:solidFill>
              <a:srgbClr val="C8960C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2834640"/>
            <a:ext cx="50292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01752" y="33832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Soybean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1975104" y="2743200"/>
            <a:ext cx="1508760" cy="1508760"/>
          </a:xfrm>
          <a:prstGeom prst="rect">
            <a:avLst/>
          </a:prstGeom>
          <a:solidFill>
            <a:srgbClr val="2C2C2C"/>
          </a:solidFill>
          <a:ln w="12700">
            <a:solidFill>
              <a:srgbClr val="C8960C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8024" y="283464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020824" y="33832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Jatropha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3694176" y="2743200"/>
            <a:ext cx="1508760" cy="1508760"/>
          </a:xfrm>
          <a:prstGeom prst="rect">
            <a:avLst/>
          </a:prstGeom>
          <a:solidFill>
            <a:srgbClr val="2C2C2C"/>
          </a:solidFill>
          <a:ln w="12700">
            <a:solidFill>
              <a:srgbClr val="C8960C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7096" y="283464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739896" y="33832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Cooking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(UCO)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413248" y="2743200"/>
            <a:ext cx="1508760" cy="1508760"/>
          </a:xfrm>
          <a:prstGeom prst="rect">
            <a:avLst/>
          </a:prstGeom>
          <a:solidFill>
            <a:srgbClr val="2C2C2C"/>
          </a:solidFill>
          <a:ln w="12700">
            <a:solidFill>
              <a:srgbClr val="C8960C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6168" y="2834640"/>
            <a:ext cx="502920" cy="5029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58968" y="33832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Oils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7132320" y="2743200"/>
            <a:ext cx="1508760" cy="1508760"/>
          </a:xfrm>
          <a:prstGeom prst="rect">
            <a:avLst/>
          </a:prstGeom>
          <a:solidFill>
            <a:srgbClr val="2C2C2C"/>
          </a:solidFill>
          <a:ln w="12700">
            <a:solidFill>
              <a:srgbClr val="C8960C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2834640"/>
            <a:ext cx="502920" cy="5029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178040" y="33832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 Oil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274320" y="44348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IOC's RUCO Initiative targets 220 crore litres of UCO annually for biodiesel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97280"/>
            <a:ext cx="91440" cy="1005840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1430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biodiesel production optimisation requires extensive laboratory experiments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slow, costly, and often producing inconsistent results.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57200" y="2286000"/>
            <a:ext cx="8229600" cy="566928"/>
          </a:xfrm>
          <a:prstGeom prst="rect">
            <a:avLst/>
          </a:prstGeom>
          <a:solidFill>
            <a:srgbClr val="F0EAD8"/>
          </a:solidFill>
          <a:ln w="12700">
            <a:solidFill>
              <a:srgbClr val="D6D0C4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350008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2331720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Time-consuming: Each trial takes hours or days of lab work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57200" y="2944368"/>
            <a:ext cx="8229600" cy="566928"/>
          </a:xfrm>
          <a:prstGeom prst="rect">
            <a:avLst/>
          </a:prstGeom>
          <a:solidFill>
            <a:srgbClr val="F0EAD8"/>
          </a:solidFill>
          <a:ln w="12700">
            <a:solidFill>
              <a:srgbClr val="D6D0C4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008376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15568" y="299008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Expensive: High cost of chemicals, energy &amp; equipment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457200" y="3602736"/>
            <a:ext cx="8229600" cy="566928"/>
          </a:xfrm>
          <a:prstGeom prst="rect">
            <a:avLst/>
          </a:prstGeom>
          <a:solidFill>
            <a:srgbClr val="F0EAD8"/>
          </a:solidFill>
          <a:ln w="12700">
            <a:solidFill>
              <a:srgbClr val="D6D0C4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666744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15568" y="3648456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Inconsistent: Results vary across trials without clear patterns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457200" y="4261104"/>
            <a:ext cx="8229600" cy="566928"/>
          </a:xfrm>
          <a:prstGeom prst="rect">
            <a:avLst/>
          </a:prstGeom>
          <a:solidFill>
            <a:srgbClr val="F0EAD8"/>
          </a:solidFill>
          <a:ln w="12700">
            <a:solidFill>
              <a:srgbClr val="D6D0C4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4325112"/>
            <a:ext cx="411480" cy="4114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15568" y="4306824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method: Trial-and-error is inefficient &amp; unscalable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 intelligent, data-driven AI/ML system is urgently needed.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OF THE STUDY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8595360" cy="676656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97280"/>
            <a:ext cx="1463040" cy="676656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097280"/>
            <a:ext cx="14630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874520" y="1152144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parameters (temperature, catalyst, reaction time, oil type) affecting biodiesel yield.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" y="1865376"/>
            <a:ext cx="8595360" cy="676656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1865376"/>
            <a:ext cx="1463040" cy="676656"/>
          </a:xfrm>
          <a:prstGeom prst="rect">
            <a:avLst/>
          </a:prstGeom>
          <a:solidFill>
            <a:srgbClr val="4CAF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1865376"/>
            <a:ext cx="14630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874520" y="192024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— Linear Regression, Decision Tree, Random Forest &amp; XGBoost — to biodiesel datasets.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74320" y="2633472"/>
            <a:ext cx="8595360" cy="676656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4320" y="2633472"/>
            <a:ext cx="1463040" cy="676656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2633472"/>
            <a:ext cx="14630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874520" y="2688336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to determine the most accurate prediction method.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74320" y="3401568"/>
            <a:ext cx="8595360" cy="676656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3401568"/>
            <a:ext cx="1463040" cy="676656"/>
          </a:xfrm>
          <a:prstGeom prst="rect">
            <a:avLst/>
          </a:prstGeom>
          <a:solidFill>
            <a:srgbClr val="FF9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3401568"/>
            <a:ext cx="14630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874520" y="3456432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improvement in accuracy over the base research paper approach.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74320" y="4169664"/>
            <a:ext cx="8595360" cy="676656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74320" y="4169664"/>
            <a:ext cx="1463040" cy="676656"/>
          </a:xfrm>
          <a:prstGeom prst="rect">
            <a:avLst/>
          </a:prstGeom>
          <a:solidFill>
            <a:srgbClr val="E91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169664"/>
            <a:ext cx="14630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874520" y="4224528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AI-based optimisation pipeline for biodiesel production from multiple feedstocks.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REVIEW — Base Research Paper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1051560"/>
            <a:ext cx="8595360" cy="777240"/>
          </a:xfrm>
          <a:prstGeom prst="rect">
            <a:avLst/>
          </a:prstGeom>
          <a:solidFill>
            <a:srgbClr val="2C2C2C"/>
          </a:solidFill>
          <a:ln w="12700">
            <a:solidFill>
              <a:srgbClr val="C8960C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65760" y="107899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</a:t>
            </a: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prediction of biodiesel production yield from transesterification of vegetable oils with machine learning"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Arunyanart et al. — Renewable Energy Journal, December 2024, Vol. 24, pp. 452–463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24414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Base Paper Did: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0040" y="2286000"/>
            <a:ext cx="8503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Linear Regression &amp; Basic ANN to predict biodiesel yield
</a:t>
            </a: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laboratory dataset — ~120 samples only
</a:t>
            </a: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Temperature, Catalyst, Methanol:Oil Ratio, Reaction Time
</a:t>
            </a: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Feedstocks: Soybean &amp; Palm oil only
</a:t>
            </a: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Linear Regression ~72–75%, Basic ANN ~80–82% accuracy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0" y="2185416"/>
            <a:ext cx="3108960" cy="1005840"/>
          </a:xfrm>
          <a:prstGeom prst="rect">
            <a:avLst/>
          </a:prstGeom>
          <a:solidFill>
            <a:srgbClr val="2C2C2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215059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Regression: ~72–75%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8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ANN: ~80–82%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65163" y="91440"/>
            <a:ext cx="786735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OF BASE PAPER &amp; RESEARCH GAP</a:t>
            </a:r>
            <a:endParaRPr lang="en-US" sz="2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170247"/>
              </p:ext>
            </p:extLst>
          </p:nvPr>
        </p:nvGraphicFramePr>
        <p:xfrm>
          <a:off x="274320" y="1051560"/>
          <a:ext cx="8595360" cy="38404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AF7F0"/>
                          </a:solidFill>
                        </a:rPr>
                        <a:t>Aspect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AF7F0"/>
                          </a:solidFill>
                        </a:rPr>
                        <a:t>Base Paper (2022)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AF7F0"/>
                          </a:solidFill>
                        </a:rPr>
                        <a:t>Current Study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D0D0D"/>
                          </a:solidFill>
                        </a:rPr>
                        <a:t>Dataset Size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71C1C"/>
                          </a:solidFill>
                        </a:rPr>
                        <a:t>~120 samples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</a:rPr>
                        <a:t>500+ samples 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D0D0D"/>
                          </a:solidFill>
                        </a:rPr>
                        <a:t>Feedstocks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71C1C"/>
                          </a:solidFill>
                        </a:rPr>
                        <a:t>Soybean &amp; Palm only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</a:rPr>
                        <a:t>Soybean, UCO, Jatropha, Palm, Waste Oil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D0D0D"/>
                          </a:solidFill>
                        </a:rPr>
                        <a:t>ML Models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71C1C"/>
                          </a:solidFill>
                        </a:rPr>
                        <a:t>Linear Regression, Basic ANN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</a:rPr>
                        <a:t>LR + Decision Tree + Random Forest + XGBoost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D0D0D"/>
                          </a:solidFill>
                        </a:rPr>
                        <a:t>Best Accuracy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71C1C"/>
                          </a:solidFill>
                        </a:rPr>
                        <a:t>~82% (ANN)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</a:rPr>
                        <a:t>~91% (XGBoost) ✦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D0D0D"/>
                          </a:solidFill>
                        </a:rPr>
                        <a:t>Feature Importance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71C1C"/>
                          </a:solidFill>
                        </a:rPr>
                        <a:t>Not analysed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</a:rPr>
                        <a:t>Full XGBoost analysis performed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D0D0D"/>
                          </a:solidFill>
                        </a:rPr>
                        <a:t>Visualisation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71C1C"/>
                          </a:solidFill>
                        </a:rPr>
                        <a:t>None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</a:rPr>
                        <a:t>6 matplotlib graphs included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D0D0D"/>
                          </a:solidFill>
                        </a:rPr>
                        <a:t>Optimisation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71C1C"/>
                          </a:solidFill>
                        </a:rPr>
                        <a:t>None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</a:rPr>
                        <a:t>Optimal parameter ranges identified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Our key NOVELTY: XGBoost introduced for the first time over the base paper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6012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WORK &amp; NOVELTY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56032" y="1078992"/>
            <a:ext cx="8631936" cy="694944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1078992"/>
            <a:ext cx="530352" cy="694944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1078992"/>
            <a:ext cx="5303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11155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 Introduced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1426464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use of XGBoost for biodiesel prediction — achieved ~91% R² vs base paper's ~82%.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56032" y="1865376"/>
            <a:ext cx="8631936" cy="694944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032" y="1865376"/>
            <a:ext cx="530352" cy="694944"/>
          </a:xfrm>
          <a:prstGeom prst="rect">
            <a:avLst/>
          </a:prstGeom>
          <a:solidFill>
            <a:srgbClr val="4CAF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6032" y="1865376"/>
            <a:ext cx="5303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68680" y="19019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Larger, Diverse Dataset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" y="2212848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from ~120 samples (single oil) to 500+ samples with 5 feedstock types including UCO.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56032" y="2651760"/>
            <a:ext cx="8631936" cy="694944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6032" y="2651760"/>
            <a:ext cx="530352" cy="694944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6032" y="2651760"/>
            <a:ext cx="5303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68680" y="26883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96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Visualisation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68680" y="299923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matplotlib charts: model comparison, actual vs. predicted, feature importance, feedstock distribution.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56032" y="3438144"/>
            <a:ext cx="8631936" cy="694944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56032" y="3438144"/>
            <a:ext cx="530352" cy="694944"/>
          </a:xfrm>
          <a:prstGeom prst="rect">
            <a:avLst/>
          </a:prstGeom>
          <a:solidFill>
            <a:srgbClr val="FF9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56032" y="3438144"/>
            <a:ext cx="5303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868680" y="3474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Optimisation Insight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68680" y="3785616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prediction — identified optimal input conditions for maximum biodiesel yield.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256032" y="4224528"/>
            <a:ext cx="8631936" cy="694944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56032" y="4224528"/>
            <a:ext cx="530352" cy="694944"/>
          </a:xfrm>
          <a:prstGeom prst="rect">
            <a:avLst/>
          </a:prstGeom>
          <a:solidFill>
            <a:srgbClr val="E91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56032" y="4224528"/>
            <a:ext cx="5303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868680" y="42611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1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India-Specific Context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68680" y="457200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findings to India's energy situation, IOC's SATAT/RUCO scheme, and UCO reutilisation.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DESCRIPTION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56032" y="1078992"/>
            <a:ext cx="1572768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1078992"/>
            <a:ext cx="1572768" cy="91440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123901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Biodiesel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Transesterification Dataset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28600" y="1735074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984248" y="1078992"/>
            <a:ext cx="1572768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984248" y="1078992"/>
            <a:ext cx="1572768" cy="91440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84248" y="117043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984248" y="1673352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712464" y="1078992"/>
            <a:ext cx="1572768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712464" y="1078992"/>
            <a:ext cx="1572768" cy="91440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12464" y="117043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Types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712464" y="1673352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Feedstocks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40680" y="1078992"/>
            <a:ext cx="1572768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40680" y="1078992"/>
            <a:ext cx="1572768" cy="91440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40680" y="117043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Features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40680" y="1673352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Params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168896" y="1078992"/>
            <a:ext cx="1572768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168896" y="1078992"/>
            <a:ext cx="1572768" cy="91440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68896" y="117043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Biodiesel Yield (%)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168896" y="1673352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20040" y="212140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Summary Statistics: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496312"/>
          <a:ext cx="8595360" cy="2578608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2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AF7F0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AF7F0"/>
                          </a:solidFill>
                        </a:rPr>
                        <a:t>Min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AF7F0"/>
                          </a:solidFill>
                        </a:rPr>
                        <a:t>Max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AF7F0"/>
                          </a:solidFill>
                        </a:rPr>
                        <a:t>Mean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AF7F0"/>
                          </a:solidFill>
                        </a:rPr>
                        <a:t>Unit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Temperature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40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70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54.8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°C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Catalyst Concentration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0.5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3.0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1.48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%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Reaction Time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150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87.3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min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Methanol:Oil Ratio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4:1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9:1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6.1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molar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Stirring Speed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400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800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582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RPM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Free Fatty Acid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0.1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2.5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0.82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%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Biodiesel Yield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58.0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96.5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83.6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%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9D8B54B7-D914-2FB2-CD69-E03D46D09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346639"/>
              </p:ext>
            </p:extLst>
          </p:nvPr>
        </p:nvGraphicFramePr>
        <p:xfrm>
          <a:off x="1" y="960120"/>
          <a:ext cx="9143999" cy="4183377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730512">
                  <a:extLst>
                    <a:ext uri="{9D8B030D-6E8A-4147-A177-3AD203B41FA5}">
                      <a16:colId xmlns:a16="http://schemas.microsoft.com/office/drawing/2014/main" val="2982207677"/>
                    </a:ext>
                  </a:extLst>
                </a:gridCol>
                <a:gridCol w="881652">
                  <a:extLst>
                    <a:ext uri="{9D8B030D-6E8A-4147-A177-3AD203B41FA5}">
                      <a16:colId xmlns:a16="http://schemas.microsoft.com/office/drawing/2014/main" val="1716999613"/>
                    </a:ext>
                  </a:extLst>
                </a:gridCol>
                <a:gridCol w="906843">
                  <a:extLst>
                    <a:ext uri="{9D8B030D-6E8A-4147-A177-3AD203B41FA5}">
                      <a16:colId xmlns:a16="http://schemas.microsoft.com/office/drawing/2014/main" val="4090122256"/>
                    </a:ext>
                  </a:extLst>
                </a:gridCol>
                <a:gridCol w="906843">
                  <a:extLst>
                    <a:ext uri="{9D8B030D-6E8A-4147-A177-3AD203B41FA5}">
                      <a16:colId xmlns:a16="http://schemas.microsoft.com/office/drawing/2014/main" val="2485425250"/>
                    </a:ext>
                  </a:extLst>
                </a:gridCol>
                <a:gridCol w="957222">
                  <a:extLst>
                    <a:ext uri="{9D8B030D-6E8A-4147-A177-3AD203B41FA5}">
                      <a16:colId xmlns:a16="http://schemas.microsoft.com/office/drawing/2014/main" val="2774782918"/>
                    </a:ext>
                  </a:extLst>
                </a:gridCol>
                <a:gridCol w="1133555">
                  <a:extLst>
                    <a:ext uri="{9D8B030D-6E8A-4147-A177-3AD203B41FA5}">
                      <a16:colId xmlns:a16="http://schemas.microsoft.com/office/drawing/2014/main" val="2145901576"/>
                    </a:ext>
                  </a:extLst>
                </a:gridCol>
                <a:gridCol w="881652">
                  <a:extLst>
                    <a:ext uri="{9D8B030D-6E8A-4147-A177-3AD203B41FA5}">
                      <a16:colId xmlns:a16="http://schemas.microsoft.com/office/drawing/2014/main" val="2493437028"/>
                    </a:ext>
                  </a:extLst>
                </a:gridCol>
                <a:gridCol w="1385455">
                  <a:extLst>
                    <a:ext uri="{9D8B030D-6E8A-4147-A177-3AD203B41FA5}">
                      <a16:colId xmlns:a16="http://schemas.microsoft.com/office/drawing/2014/main" val="4029538987"/>
                    </a:ext>
                  </a:extLst>
                </a:gridCol>
                <a:gridCol w="1360265">
                  <a:extLst>
                    <a:ext uri="{9D8B030D-6E8A-4147-A177-3AD203B41FA5}">
                      <a16:colId xmlns:a16="http://schemas.microsoft.com/office/drawing/2014/main" val="2176844182"/>
                    </a:ext>
                  </a:extLst>
                </a:gridCol>
              </a:tblGrid>
              <a:tr h="688005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Sample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34413" marB="34413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Temp (°C)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34413" marB="34413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Catalyst (%)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34413" marB="34413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Time (min)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34413" marB="34413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MeOH Ratio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34413" marB="34413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Oil Type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34413" marB="34413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RPM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34413" marB="34413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Free Fatty Acid (%)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34413" marB="34413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Yield (%)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34413" marB="34413" anchor="ctr"/>
                </a:tc>
                <a:extLst>
                  <a:ext uri="{0D108BD9-81ED-4DB2-BD59-A6C34878D82A}">
                    <a16:rowId xmlns:a16="http://schemas.microsoft.com/office/drawing/2014/main" val="3074610123"/>
                  </a:ext>
                </a:extLst>
              </a:tr>
              <a:tr h="367008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1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55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1.5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90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6:1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Soybean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600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0.4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89.2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extLst>
                  <a:ext uri="{0D108BD9-81ED-4DB2-BD59-A6C34878D82A}">
                    <a16:rowId xmlns:a16="http://schemas.microsoft.com/office/drawing/2014/main" val="3708661262"/>
                  </a:ext>
                </a:extLst>
              </a:tr>
              <a:tr h="323331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2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60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1.0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60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5:1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UCO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500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1.2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82.5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extLst>
                  <a:ext uri="{0D108BD9-81ED-4DB2-BD59-A6C34878D82A}">
                    <a16:rowId xmlns:a16="http://schemas.microsoft.com/office/drawing/2014/main" val="544277443"/>
                  </a:ext>
                </a:extLst>
              </a:tr>
              <a:tr h="367008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3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50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2.0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120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7:1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Jatropha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650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0.8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85.1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extLst>
                  <a:ext uri="{0D108BD9-81ED-4DB2-BD59-A6C34878D82A}">
                    <a16:rowId xmlns:a16="http://schemas.microsoft.com/office/drawing/2014/main" val="463867740"/>
                  </a:ext>
                </a:extLst>
              </a:tr>
              <a:tr h="323331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4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65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1.5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90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6:1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Palm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600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0.3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91.3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extLst>
                  <a:ext uri="{0D108BD9-81ED-4DB2-BD59-A6C34878D82A}">
                    <a16:rowId xmlns:a16="http://schemas.microsoft.com/office/drawing/2014/main" val="182865552"/>
                  </a:ext>
                </a:extLst>
              </a:tr>
              <a:tr h="367008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5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45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1.0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75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5:1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Waste Oil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550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1.8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74.2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extLst>
                  <a:ext uri="{0D108BD9-81ED-4DB2-BD59-A6C34878D82A}">
                    <a16:rowId xmlns:a16="http://schemas.microsoft.com/office/drawing/2014/main" val="943986567"/>
                  </a:ext>
                </a:extLst>
              </a:tr>
              <a:tr h="367008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6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55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2.0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90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6:1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Soybean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600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0.5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90.1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extLst>
                  <a:ext uri="{0D108BD9-81ED-4DB2-BD59-A6C34878D82A}">
                    <a16:rowId xmlns:a16="http://schemas.microsoft.com/office/drawing/2014/main" val="2133365675"/>
                  </a:ext>
                </a:extLst>
              </a:tr>
              <a:tr h="323331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7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60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1.5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60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5:1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UCO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500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1.0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84.7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extLst>
                  <a:ext uri="{0D108BD9-81ED-4DB2-BD59-A6C34878D82A}">
                    <a16:rowId xmlns:a16="http://schemas.microsoft.com/office/drawing/2014/main" val="2204808395"/>
                  </a:ext>
                </a:extLst>
              </a:tr>
              <a:tr h="367008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8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50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1.0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120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7:1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Jatropha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650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0.9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80.3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extLst>
                  <a:ext uri="{0D108BD9-81ED-4DB2-BD59-A6C34878D82A}">
                    <a16:rowId xmlns:a16="http://schemas.microsoft.com/office/drawing/2014/main" val="657211476"/>
                  </a:ext>
                </a:extLst>
              </a:tr>
              <a:tr h="323331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9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55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2.0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90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6:1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Palm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600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0.2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92.0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extLst>
                  <a:ext uri="{0D108BD9-81ED-4DB2-BD59-A6C34878D82A}">
                    <a16:rowId xmlns:a16="http://schemas.microsoft.com/office/drawing/2014/main" val="1653960175"/>
                  </a:ext>
                </a:extLst>
              </a:tr>
              <a:tr h="367008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10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65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1.5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75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6:1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Waste Oil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550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1.5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78.6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1619" marR="51619" marT="27530" marB="27530"/>
                </a:tc>
                <a:extLst>
                  <a:ext uri="{0D108BD9-81ED-4DB2-BD59-A6C34878D82A}">
                    <a16:rowId xmlns:a16="http://schemas.microsoft.com/office/drawing/2014/main" val="38605120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34406-EBB5-82E8-6549-1BB2E4D08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C7281A-E433-1410-AAFE-EF8C0B72B12C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C5CDC6E-893B-62EF-07E7-5FEE813050D6}"/>
              </a:ext>
            </a:extLst>
          </p:cNvPr>
          <p:cNvSpPr/>
          <p:nvPr/>
        </p:nvSpPr>
        <p:spPr>
          <a:xfrm>
            <a:off x="2257865" y="91440"/>
            <a:ext cx="64746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SUMMARY</a:t>
            </a:r>
            <a:endParaRPr lang="en-US" sz="28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FBE9C5F-AC9D-14C4-40FC-450EF2E8B30E}"/>
              </a:ext>
            </a:extLst>
          </p:cNvPr>
          <p:cNvSpPr/>
          <p:nvPr/>
        </p:nvSpPr>
        <p:spPr>
          <a:xfrm>
            <a:off x="256032" y="1078992"/>
            <a:ext cx="1572768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8BDB64F-912C-CAAB-D8C3-EBD62B22629A}"/>
              </a:ext>
            </a:extLst>
          </p:cNvPr>
          <p:cNvSpPr/>
          <p:nvPr/>
        </p:nvSpPr>
        <p:spPr>
          <a:xfrm>
            <a:off x="256032" y="1078992"/>
            <a:ext cx="1572768" cy="91440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672627E-6309-712C-9ECC-6F60BE42A70F}"/>
              </a:ext>
            </a:extLst>
          </p:cNvPr>
          <p:cNvSpPr/>
          <p:nvPr/>
        </p:nvSpPr>
        <p:spPr>
          <a:xfrm>
            <a:off x="256032" y="123901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Biodiesel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Transesterification Dataset</a:t>
            </a:r>
            <a:endParaRPr lang="en-US" sz="13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CBE00E9-585E-6568-F76D-AEC543EFC70E}"/>
              </a:ext>
            </a:extLst>
          </p:cNvPr>
          <p:cNvSpPr/>
          <p:nvPr/>
        </p:nvSpPr>
        <p:spPr>
          <a:xfrm>
            <a:off x="228600" y="1735074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1F65AB9-4327-5B76-7FAD-ADCCC4283D1E}"/>
              </a:ext>
            </a:extLst>
          </p:cNvPr>
          <p:cNvSpPr/>
          <p:nvPr/>
        </p:nvSpPr>
        <p:spPr>
          <a:xfrm>
            <a:off x="1984248" y="1078992"/>
            <a:ext cx="1572768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3156F43-74F6-FF96-858C-C869CDE7F561}"/>
              </a:ext>
            </a:extLst>
          </p:cNvPr>
          <p:cNvSpPr/>
          <p:nvPr/>
        </p:nvSpPr>
        <p:spPr>
          <a:xfrm>
            <a:off x="1984248" y="1078992"/>
            <a:ext cx="1572768" cy="91440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3B7C740-F495-FC6A-D6CA-ABD14E7F7344}"/>
              </a:ext>
            </a:extLst>
          </p:cNvPr>
          <p:cNvSpPr/>
          <p:nvPr/>
        </p:nvSpPr>
        <p:spPr>
          <a:xfrm>
            <a:off x="1984248" y="117043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13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61EB4D4-65AB-4884-F64D-B17B018AA71A}"/>
              </a:ext>
            </a:extLst>
          </p:cNvPr>
          <p:cNvSpPr/>
          <p:nvPr/>
        </p:nvSpPr>
        <p:spPr>
          <a:xfrm>
            <a:off x="1984248" y="1673352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F343B093-E7ED-F39A-A14F-0585365ABEE4}"/>
              </a:ext>
            </a:extLst>
          </p:cNvPr>
          <p:cNvSpPr/>
          <p:nvPr/>
        </p:nvSpPr>
        <p:spPr>
          <a:xfrm>
            <a:off x="3712464" y="1078992"/>
            <a:ext cx="1572768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CF2DB7FD-78D9-B9D8-C3A8-38739F285766}"/>
              </a:ext>
            </a:extLst>
          </p:cNvPr>
          <p:cNvSpPr/>
          <p:nvPr/>
        </p:nvSpPr>
        <p:spPr>
          <a:xfrm>
            <a:off x="3712464" y="1078992"/>
            <a:ext cx="1572768" cy="91440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6CADAF0-F228-34D4-7FE4-D444C132B200}"/>
              </a:ext>
            </a:extLst>
          </p:cNvPr>
          <p:cNvSpPr/>
          <p:nvPr/>
        </p:nvSpPr>
        <p:spPr>
          <a:xfrm>
            <a:off x="3712464" y="117043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Types</a:t>
            </a:r>
            <a:endParaRPr lang="en-US" sz="13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C1389B6B-A31C-BBE3-4ACB-01AE64D37F4F}"/>
              </a:ext>
            </a:extLst>
          </p:cNvPr>
          <p:cNvSpPr/>
          <p:nvPr/>
        </p:nvSpPr>
        <p:spPr>
          <a:xfrm>
            <a:off x="3712464" y="1673352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Feedstocks</a:t>
            </a:r>
            <a:endParaRPr lang="en-US" sz="10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FC77BCB1-84EE-973E-FF13-D86226BF68C2}"/>
              </a:ext>
            </a:extLst>
          </p:cNvPr>
          <p:cNvSpPr/>
          <p:nvPr/>
        </p:nvSpPr>
        <p:spPr>
          <a:xfrm>
            <a:off x="5440680" y="1078992"/>
            <a:ext cx="1572768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0CEE0C28-A880-5388-396E-C3BBC6F0535A}"/>
              </a:ext>
            </a:extLst>
          </p:cNvPr>
          <p:cNvSpPr/>
          <p:nvPr/>
        </p:nvSpPr>
        <p:spPr>
          <a:xfrm>
            <a:off x="5440680" y="1078992"/>
            <a:ext cx="1572768" cy="91440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5CBF92FB-A38F-C1D7-B46D-B1564650770C}"/>
              </a:ext>
            </a:extLst>
          </p:cNvPr>
          <p:cNvSpPr/>
          <p:nvPr/>
        </p:nvSpPr>
        <p:spPr>
          <a:xfrm>
            <a:off x="5440680" y="117043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Features</a:t>
            </a:r>
            <a:endParaRPr lang="en-US" sz="13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37B234F-F9F5-B0B4-CA8D-C50F84348369}"/>
              </a:ext>
            </a:extLst>
          </p:cNvPr>
          <p:cNvSpPr/>
          <p:nvPr/>
        </p:nvSpPr>
        <p:spPr>
          <a:xfrm>
            <a:off x="5440680" y="1673352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Params</a:t>
            </a:r>
            <a:endParaRPr lang="en-US" sz="10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7324348A-FDF7-BC95-AE1E-3CC9073067C5}"/>
              </a:ext>
            </a:extLst>
          </p:cNvPr>
          <p:cNvSpPr/>
          <p:nvPr/>
        </p:nvSpPr>
        <p:spPr>
          <a:xfrm>
            <a:off x="7168896" y="1078992"/>
            <a:ext cx="1572768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ACA9F16F-0CC5-187F-D759-A27893865836}"/>
              </a:ext>
            </a:extLst>
          </p:cNvPr>
          <p:cNvSpPr/>
          <p:nvPr/>
        </p:nvSpPr>
        <p:spPr>
          <a:xfrm>
            <a:off x="7168896" y="1078992"/>
            <a:ext cx="1572768" cy="91440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67755335-CA1B-ED76-EB21-E205299D02C7}"/>
              </a:ext>
            </a:extLst>
          </p:cNvPr>
          <p:cNvSpPr/>
          <p:nvPr/>
        </p:nvSpPr>
        <p:spPr>
          <a:xfrm>
            <a:off x="7168896" y="117043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Biodiesel Yield (%)</a:t>
            </a:r>
            <a:endParaRPr lang="en-US" sz="13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2F8A8349-6B25-2FFE-2EAB-59E20FCF040E}"/>
              </a:ext>
            </a:extLst>
          </p:cNvPr>
          <p:cNvSpPr/>
          <p:nvPr/>
        </p:nvSpPr>
        <p:spPr>
          <a:xfrm>
            <a:off x="7168896" y="1673352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867090A1-897D-972C-F611-9C0D6C002B44}"/>
              </a:ext>
            </a:extLst>
          </p:cNvPr>
          <p:cNvSpPr/>
          <p:nvPr/>
        </p:nvSpPr>
        <p:spPr>
          <a:xfrm>
            <a:off x="320040" y="212140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Summary Statistics:</a:t>
            </a:r>
            <a:endParaRPr lang="en-US" sz="1400" dirty="0"/>
          </a:p>
        </p:txBody>
      </p:sp>
      <p:graphicFrame>
        <p:nvGraphicFramePr>
          <p:cNvPr id="26" name="Table 0">
            <a:extLst>
              <a:ext uri="{FF2B5EF4-FFF2-40B4-BE49-F238E27FC236}">
                <a16:creationId xmlns:a16="http://schemas.microsoft.com/office/drawing/2014/main" id="{102C63B1-1806-3709-7727-E8D47699F75D}"/>
              </a:ext>
            </a:extLst>
          </p:cNvPr>
          <p:cNvGraphicFramePr>
            <a:graphicFrameLocks noGrp="1"/>
          </p:cNvGraphicFramePr>
          <p:nvPr/>
        </p:nvGraphicFramePr>
        <p:xfrm>
          <a:off x="274320" y="2496312"/>
          <a:ext cx="8595360" cy="2578608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2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AF7F0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AF7F0"/>
                          </a:solidFill>
                        </a:rPr>
                        <a:t>Min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AF7F0"/>
                          </a:solidFill>
                        </a:rPr>
                        <a:t>Max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AF7F0"/>
                          </a:solidFill>
                        </a:rPr>
                        <a:t>Mean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AF7F0"/>
                          </a:solidFill>
                        </a:rPr>
                        <a:t>Unit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Temperature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40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70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54.8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°C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Catalyst Concentration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0.5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3.0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1.48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%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Reaction Time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150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87.3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min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Methanol:Oil Ratio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4:1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9:1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6.1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molar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Stirring Speed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400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800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582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RPM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Free Fatty Acid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0.1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2.5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0.82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%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Biodiesel Yield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58.0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96.5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83.6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</a:rPr>
                        <a:t>%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7005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8554" y="-83234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FOUR ML MODELS — Visual Comparison</a:t>
            </a:r>
            <a:endParaRPr lang="en-US" sz="2200" dirty="0"/>
          </a:p>
        </p:txBody>
      </p:sp>
      <p:pic>
        <p:nvPicPr>
          <p:cNvPr id="4" name="Image 0" descr="/home/claude/biodiesel_ppt/media/image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9914" y="513471"/>
            <a:ext cx="8750104" cy="4439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6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Visual Explanation of All Four ML Models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— Pipeline Overview</a:t>
            </a:r>
            <a:endParaRPr lang="en-US" sz="2200" dirty="0"/>
          </a:p>
        </p:txBody>
      </p:sp>
      <p:pic>
        <p:nvPicPr>
          <p:cNvPr id="5" name="Image 1" descr="/home/claude/biodiesel_ppt/media/image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4007" y="996315"/>
            <a:ext cx="3432153" cy="414718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491947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2: System Architecture Pipeline Flowchart</a:t>
            </a:r>
            <a:endParaRPr lang="en-US" sz="850" dirty="0"/>
          </a:p>
        </p:txBody>
      </p:sp>
      <p:sp>
        <p:nvSpPr>
          <p:cNvPr id="7" name="Shape 3"/>
          <p:cNvSpPr/>
          <p:nvPr/>
        </p:nvSpPr>
        <p:spPr>
          <a:xfrm>
            <a:off x="3749040" y="1078992"/>
            <a:ext cx="5120640" cy="576072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749040" y="1078992"/>
            <a:ext cx="457200" cy="576072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749040" y="1078992"/>
            <a:ext cx="457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279392" y="110642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279392" y="135331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records from Kaggle dataset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749040" y="1746504"/>
            <a:ext cx="5120640" cy="576072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749040" y="1746504"/>
            <a:ext cx="457200" cy="576072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749040" y="1746504"/>
            <a:ext cx="457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279392" y="177393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279392" y="202082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errors, encode oil type, normalise values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749040" y="2414016"/>
            <a:ext cx="5120640" cy="576072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749040" y="2414016"/>
            <a:ext cx="457200" cy="576072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749040" y="2414016"/>
            <a:ext cx="457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279392" y="244144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4279392" y="268833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predictors using XGBoost importance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749040" y="3081528"/>
            <a:ext cx="5120640" cy="576072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749040" y="3081528"/>
            <a:ext cx="457200" cy="576072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749040" y="3081528"/>
            <a:ext cx="457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279392" y="310896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4279392" y="335584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(400 records), 20% test (100 records)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749040" y="3749040"/>
            <a:ext cx="5120640" cy="576072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3749040" y="3749040"/>
            <a:ext cx="457200" cy="576072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749040" y="3749040"/>
            <a:ext cx="457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4279392" y="377647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Prediction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4279392" y="402336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models trained, R² and RMSE measured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3749040" y="4416552"/>
            <a:ext cx="5120640" cy="576072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3749040" y="4416552"/>
            <a:ext cx="457200" cy="576072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749040" y="4416552"/>
            <a:ext cx="457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1"/>
          <p:cNvSpPr/>
          <p:nvPr/>
        </p:nvSpPr>
        <p:spPr>
          <a:xfrm>
            <a:off x="4279392" y="444398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&amp; Output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4279392" y="469087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charts + best parameter 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 DIAGRAM — Biodiesel Prediction System</a:t>
            </a:r>
            <a:endParaRPr lang="en-US" sz="2200" dirty="0"/>
          </a:p>
        </p:txBody>
      </p:sp>
      <p:pic>
        <p:nvPicPr>
          <p:cNvPr id="4" name="Image 0" descr="/home/claude/biodiesel_ppt/media/image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703385"/>
            <a:ext cx="822960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6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3: Use Case Diagram — Biodiesel Prediction System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— Step-by-Step Implementation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1078992"/>
            <a:ext cx="8595360" cy="704088"/>
          </a:xfrm>
          <a:prstGeom prst="rect">
            <a:avLst/>
          </a:prstGeom>
          <a:solidFill>
            <a:srgbClr val="F0EAD8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1078992"/>
            <a:ext cx="1051560" cy="704088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078992"/>
            <a:ext cx="10515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389888" y="11155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 Libraries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89888" y="1399032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pandas, numpy, sklearn, xgboost, matplotlib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4320" y="1874520"/>
            <a:ext cx="8595360" cy="704088"/>
          </a:xfrm>
          <a:prstGeom prst="rect">
            <a:avLst/>
          </a:prstGeom>
          <a:solidFill>
            <a:srgbClr val="F0EAD8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" y="1874520"/>
            <a:ext cx="1051560" cy="704088"/>
          </a:xfrm>
          <a:prstGeom prst="rect">
            <a:avLst/>
          </a:prstGeom>
          <a:solidFill>
            <a:srgbClr val="4CAF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1874520"/>
            <a:ext cx="10515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389888" y="19110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 &amp; Encode Dataset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89888" y="219456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pd.read_csv("biodiesel_dataset.csv")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 OilType: Soybean=1, UCO=2, Jatropha=3, Palm=4, Waste=5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74320" y="2670048"/>
            <a:ext cx="8595360" cy="704088"/>
          </a:xfrm>
          <a:prstGeom prst="rect">
            <a:avLst/>
          </a:prstGeom>
          <a:solidFill>
            <a:srgbClr val="F0EAD8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" y="2670048"/>
            <a:ext cx="1051560" cy="704088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2670048"/>
            <a:ext cx="10515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389888" y="27066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 Features &amp; Target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389888" y="2990088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7 input features; y = BiodieselYield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train_test_split(X, y, test_size=0.2, random_state=42)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74320" y="3465576"/>
            <a:ext cx="8595360" cy="704088"/>
          </a:xfrm>
          <a:prstGeom prst="rect">
            <a:avLst/>
          </a:prstGeom>
          <a:solidFill>
            <a:srgbClr val="F0EAD8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74320" y="3465576"/>
            <a:ext cx="1051560" cy="704088"/>
          </a:xfrm>
          <a:prstGeom prst="rect">
            <a:avLst/>
          </a:prstGeom>
          <a:solidFill>
            <a:srgbClr val="FF9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3465576"/>
            <a:ext cx="10515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389888" y="35021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All 4 Models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389888" y="3785616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LinearRegression(), DecisionTreeRegressor(max_depth=5),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RandomForestRegressor(n_estimators=100), XGBRegressor(n_estimators=200)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74320" y="4261104"/>
            <a:ext cx="8595360" cy="704088"/>
          </a:xfrm>
          <a:prstGeom prst="rect">
            <a:avLst/>
          </a:prstGeom>
          <a:solidFill>
            <a:srgbClr val="F0EAD8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74320" y="4261104"/>
            <a:ext cx="1051560" cy="704088"/>
          </a:xfrm>
          <a:prstGeom prst="rect">
            <a:avLst/>
          </a:prstGeom>
          <a:solidFill>
            <a:srgbClr val="E91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4261104"/>
            <a:ext cx="10515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389888" y="4297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 Performance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389888" y="4581144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r2_score(y_test, y_pred), mean_squared_error(y_test, y_pred)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R², RMSE for each model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— Model Accuracy Comparison</a:t>
            </a:r>
            <a:endParaRPr lang="en-US" sz="2400" dirty="0"/>
          </a:p>
        </p:txBody>
      </p:sp>
      <p:pic>
        <p:nvPicPr>
          <p:cNvPr id="5" name="Image 1" descr="/home/claude/biodiesel_ppt/media/image5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440" y="882748"/>
            <a:ext cx="5155809" cy="3154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4114800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6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4: Model Accuracy Comparison — Base Paper vs Current Study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185307"/>
              </p:ext>
            </p:extLst>
          </p:nvPr>
        </p:nvGraphicFramePr>
        <p:xfrm>
          <a:off x="5292969" y="882748"/>
          <a:ext cx="3805311" cy="3182815"/>
        </p:xfrm>
        <a:graphic>
          <a:graphicData uri="http://schemas.openxmlformats.org/drawingml/2006/table">
            <a:tbl>
              <a:tblPr/>
              <a:tblGrid>
                <a:gridCol w="1236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7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10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65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0D0D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6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0D0D"/>
                          </a:solidFill>
                        </a:rPr>
                        <a:t>R²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6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0D0D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6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0D0D"/>
                          </a:solidFill>
                        </a:rPr>
                        <a:t>RMSE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6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0D0D"/>
                          </a:solidFill>
                        </a:rPr>
                        <a:t>Base Paper?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6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5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AF7F0"/>
                          </a:solidFill>
                        </a:rPr>
                        <a:t>Linear Regression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AF7F0"/>
                          </a:solidFill>
                        </a:rPr>
                        <a:t>0.75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AF7F0"/>
                          </a:solidFill>
                        </a:rPr>
                        <a:t>75.0%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AF7F0"/>
                          </a:solidFill>
                        </a:rPr>
                        <a:t>5.8%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AF7F0"/>
                          </a:solidFill>
                        </a:rPr>
                        <a:t>Yes (base)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5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AF7F0"/>
                          </a:solidFill>
                        </a:rPr>
                        <a:t>Decision Tree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AF7F0"/>
                          </a:solidFill>
                        </a:rPr>
                        <a:t>0.78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AF7F0"/>
                          </a:solidFill>
                        </a:rPr>
                        <a:t>78.0%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AF7F0"/>
                          </a:solidFill>
                        </a:rPr>
                        <a:t>4.9%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AF7F0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65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AF7F0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AF7F0"/>
                          </a:solidFill>
                        </a:rPr>
                        <a:t>0.84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AF7F0"/>
                          </a:solidFill>
                        </a:rPr>
                        <a:t>84.0%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AF7F0"/>
                          </a:solidFill>
                        </a:rPr>
                        <a:t>3.7%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AF7F0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65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8960C"/>
                          </a:solidFill>
                        </a:rPr>
                        <a:t>XGBoost ★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8960C"/>
                          </a:solidFill>
                        </a:rPr>
                        <a:t>0.91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8960C"/>
                          </a:solidFill>
                        </a:rPr>
                        <a:t>91.0%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8960C"/>
                          </a:solidFill>
                        </a:rPr>
                        <a:t>2.3%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8960C"/>
                          </a:solidFill>
                        </a:rPr>
                        <a:t>No — NOVEL</a:t>
                      </a:r>
                      <a:endParaRPr lang="en-US" sz="1100" dirty="0"/>
                    </a:p>
                  </a:txBody>
                  <a:tcPr>
                    <a:lnL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C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175847" y="4370832"/>
            <a:ext cx="8792306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4"/>
          <p:cNvSpPr/>
          <p:nvPr/>
        </p:nvSpPr>
        <p:spPr>
          <a:xfrm>
            <a:off x="175847" y="4356764"/>
            <a:ext cx="8876713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 WINS with 91% R² — a 16% improvement over the base paper ( ~75%)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295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58726" y="80010"/>
            <a:ext cx="859536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— Actual vs Predicted Biodiesel Yield</a:t>
            </a:r>
            <a:endParaRPr lang="en-US" sz="2400" dirty="0"/>
          </a:p>
        </p:txBody>
      </p:sp>
      <p:pic>
        <p:nvPicPr>
          <p:cNvPr id="4" name="Image 0" descr="/home/claude/biodiesel_ppt/media/image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41248"/>
            <a:ext cx="8229600" cy="39136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75488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5: Actual vs Predicted Yield — XGBoost follows actual values most closely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XGBoost's predicted line closely matches the actual yield curve — confirming its superior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 Training vs Validation Loss Curve</a:t>
            </a:r>
            <a:endParaRPr lang="en-US" sz="2400" dirty="0"/>
          </a:p>
        </p:txBody>
      </p:sp>
      <p:pic>
        <p:nvPicPr>
          <p:cNvPr id="4" name="Image 0" descr="/home/claude/biodiesel_ppt/media/image1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05840"/>
            <a:ext cx="82296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70916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9: XGBoost Training vs Validation Loss — Model converges around iteration 30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training and validation loss converge — confirming the model is NOT overfitting.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IMPORTANCE — XGBoost Analysis</a:t>
            </a:r>
            <a:endParaRPr lang="en-US" sz="2400" dirty="0"/>
          </a:p>
        </p:txBody>
      </p:sp>
      <p:pic>
        <p:nvPicPr>
          <p:cNvPr id="5" name="Image 1" descr="/home/claude/biodiesel_ppt/media/image7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1005840"/>
            <a:ext cx="5486400" cy="3108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413308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6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6: XGBoost Feature Importance — Temperature &amp; Catalyst Concentration dominate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5943600" y="10058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Importance Breakdown: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943600" y="144475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 Conc.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943600" y="1673352"/>
            <a:ext cx="2743200" cy="219456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43600" y="1673352"/>
            <a:ext cx="848563" cy="219456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37883" y="167335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943600" y="201168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943600" y="2240280"/>
            <a:ext cx="2743200" cy="219456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943600" y="2240280"/>
            <a:ext cx="742493" cy="219456"/>
          </a:xfrm>
          <a:prstGeom prst="rect">
            <a:avLst/>
          </a:prstGeom>
          <a:solidFill>
            <a:srgbClr val="FF9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731813" y="2240280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943600" y="257860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Time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943600" y="2807208"/>
            <a:ext cx="2743200" cy="219456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43600" y="2807208"/>
            <a:ext cx="530352" cy="219456"/>
          </a:xfrm>
          <a:prstGeom prst="rect">
            <a:avLst/>
          </a:prstGeom>
          <a:solidFill>
            <a:srgbClr val="4CAF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19672" y="280720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943600" y="314553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Type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943600" y="3374136"/>
            <a:ext cx="2743200" cy="219456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943600" y="3374136"/>
            <a:ext cx="318211" cy="219456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307531" y="337413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943600" y="371246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Methanol Ratio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943600" y="3941064"/>
            <a:ext cx="2743200" cy="219456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943600" y="3941064"/>
            <a:ext cx="212141" cy="219456"/>
          </a:xfrm>
          <a:prstGeom prst="rect">
            <a:avLst/>
          </a:prstGeom>
          <a:solidFill>
            <a:srgbClr val="E91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201461" y="394106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274320" y="4370832"/>
            <a:ext cx="8595360" cy="658368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Factors: Catalyst (32%) + Temperature (28%) + Reaction Time (20%) = 80% of yield outcome!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FEEDSTOCK DISTRIBUTION IN DATASET</a:t>
            </a:r>
            <a:endParaRPr lang="en-US" sz="2400" dirty="0"/>
          </a:p>
        </p:txBody>
      </p:sp>
      <p:pic>
        <p:nvPicPr>
          <p:cNvPr id="5" name="Image 1" descr="/home/claude/biodiesel_ppt/media/image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005840"/>
            <a:ext cx="4206240" cy="3474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457200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7: Feedstock Distribution — UCO and Soybean are most common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493776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Feedstock Insights: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937760" y="1444752"/>
            <a:ext cx="3931920" cy="621792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937760" y="1444752"/>
            <a:ext cx="109728" cy="621792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120640" y="14813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UCO (Used Cooking Oil)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120640" y="17465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 lower yield but nearly FREE feedstock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937760" y="2157984"/>
            <a:ext cx="3931920" cy="621792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937760" y="2157984"/>
            <a:ext cx="109728" cy="621792"/>
          </a:xfrm>
          <a:prstGeom prst="rect">
            <a:avLst/>
          </a:prstGeom>
          <a:solidFill>
            <a:srgbClr val="4CAF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120640" y="21945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Soybean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120640" y="24597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yield — ideal fresh oil feedstock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37760" y="2871216"/>
            <a:ext cx="3931920" cy="621792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937760" y="2871216"/>
            <a:ext cx="109728" cy="621792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120640" y="29077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Jatropha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120640" y="31729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Non-edible crop, suits Indian conditions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937760" y="3584448"/>
            <a:ext cx="3931920" cy="621792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937760" y="3584448"/>
            <a:ext cx="109728" cy="621792"/>
          </a:xfrm>
          <a:prstGeom prst="rect">
            <a:avLst/>
          </a:prstGeom>
          <a:solidFill>
            <a:srgbClr val="FF9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120640" y="36210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12064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yield but limited India availability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937760" y="4297680"/>
            <a:ext cx="3931920" cy="621792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937760" y="4297680"/>
            <a:ext cx="109728" cy="621792"/>
          </a:xfrm>
          <a:prstGeom prst="rect">
            <a:avLst/>
          </a:prstGeom>
          <a:solidFill>
            <a:srgbClr val="E91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120640" y="43342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Waste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120640" y="4599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yield but adds sustainability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Temperature vs Biodiesel Yield</a:t>
            </a:r>
            <a:endParaRPr lang="en-US" sz="2600" dirty="0"/>
          </a:p>
        </p:txBody>
      </p:sp>
      <p:pic>
        <p:nvPicPr>
          <p:cNvPr id="5" name="Image 1" descr="/home/claude/biodiesel_ppt/media/image9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1005840"/>
            <a:ext cx="5943600" cy="35204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455371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6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8: Temperature vs Biodiesel Yield — Optimal zone around 55°C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6400800" y="1005840"/>
            <a:ext cx="2468880" cy="1188720"/>
          </a:xfrm>
          <a:prstGeom prst="rect">
            <a:avLst/>
          </a:prstGeom>
          <a:solidFill>
            <a:srgbClr val="2C2C2C"/>
          </a:solidFill>
          <a:ln w="12700">
            <a:solidFill>
              <a:srgbClr val="C8960C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400800" y="10241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0" y="1463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– 60°C</a:t>
            </a:r>
            <a:endParaRPr lang="en-US" sz="2600" dirty="0"/>
          </a:p>
        </p:txBody>
      </p:sp>
      <p:sp>
        <p:nvSpPr>
          <p:cNvPr id="10" name="Shape 6"/>
          <p:cNvSpPr/>
          <p:nvPr/>
        </p:nvSpPr>
        <p:spPr>
          <a:xfrm>
            <a:off x="6400800" y="2331720"/>
            <a:ext cx="2468880" cy="914400"/>
          </a:xfrm>
          <a:prstGeom prst="rect">
            <a:avLst/>
          </a:prstGeom>
          <a:solidFill>
            <a:srgbClr val="2C2C2C"/>
          </a:solidFill>
          <a:ln w="12700">
            <a:solidFill>
              <a:srgbClr val="C8960C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400800" y="235000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low → slow reaction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high → methanol evaporates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0" y="3383280"/>
            <a:ext cx="2468880" cy="114300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400800" y="3401568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Relevance: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biodiesel units in rural India need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control systems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 — Optimal Parameters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1051560"/>
            <a:ext cx="8595360" cy="704088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1179576"/>
            <a:ext cx="438912" cy="4389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108813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68680" y="1417320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high/low reduces yield. Controls reaction speed.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212080" y="1179576"/>
            <a:ext cx="182880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212080" y="117957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50–60°C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150608" y="1179576"/>
            <a:ext cx="1572768" cy="438912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150608" y="1179576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Importance: 28%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74320" y="1847088"/>
            <a:ext cx="8595360" cy="704088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1975104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188366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Catalyst (KOH/NaOH)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68680" y="2212848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catalyst creates soap (saponification). Most critical!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212080" y="1975104"/>
            <a:ext cx="182880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212080" y="197510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1.0–1.5%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150608" y="1975104"/>
            <a:ext cx="1572768" cy="438912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150608" y="1975104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Importance: 32%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274320" y="2642616"/>
            <a:ext cx="8595360" cy="704088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2770632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68680" y="26791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Reaction Time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68680" y="3008376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optimal; UCO needs more time due to higher free fatty acids.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212080" y="2770632"/>
            <a:ext cx="182880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212080" y="277063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60–90 min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7150608" y="2770632"/>
            <a:ext cx="1572768" cy="438912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150608" y="2770632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Importance: 20%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274320" y="3438144"/>
            <a:ext cx="8595360" cy="704088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" y="3566160"/>
            <a:ext cx="438912" cy="43891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68680" y="3474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Oil Type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868680" y="3803904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oil gives highest yield; UCO yield ~5% lower but free.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5212080" y="3566160"/>
            <a:ext cx="182880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5212080" y="35661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Soybean &gt; UCO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7150608" y="3566160"/>
            <a:ext cx="1572768" cy="438912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7150608" y="356616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Importance: 12%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274320" y="4233672"/>
            <a:ext cx="8595360" cy="704088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" y="4361688"/>
            <a:ext cx="438912" cy="43891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68680" y="42702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Methanol:Oil Ratio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868680" y="4599432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methanol boosts yield slightly; recovery system needed.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5212080" y="4361688"/>
            <a:ext cx="182880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5212080" y="436168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6:1 molar</a:t>
            </a:r>
            <a:endParaRPr lang="en-US" sz="1200" dirty="0"/>
          </a:p>
        </p:txBody>
      </p:sp>
      <p:sp>
        <p:nvSpPr>
          <p:cNvPr id="43" name="Shape 35"/>
          <p:cNvSpPr/>
          <p:nvPr/>
        </p:nvSpPr>
        <p:spPr>
          <a:xfrm>
            <a:off x="7150608" y="4361688"/>
            <a:ext cx="1572768" cy="438912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7150608" y="4361688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Importance: 8%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274320" y="3068726"/>
            <a:ext cx="1417320" cy="936346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3068726"/>
            <a:ext cx="1417320" cy="936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32%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" y="2249424"/>
            <a:ext cx="1417320" cy="819302"/>
          </a:xfrm>
          <a:prstGeom prst="rect">
            <a:avLst/>
          </a:prstGeom>
          <a:solidFill>
            <a:srgbClr val="FF9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2249424"/>
            <a:ext cx="1417320" cy="819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28%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4320" y="1664208"/>
            <a:ext cx="1417320" cy="585216"/>
          </a:xfrm>
          <a:prstGeom prst="rect">
            <a:avLst/>
          </a:prstGeom>
          <a:solidFill>
            <a:srgbClr val="4CAF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1664208"/>
            <a:ext cx="1417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74320" y="1313078"/>
            <a:ext cx="1417320" cy="351130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1313078"/>
            <a:ext cx="141732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74320" y="1078992"/>
            <a:ext cx="1417320" cy="234086"/>
          </a:xfrm>
          <a:prstGeom prst="rect">
            <a:avLst/>
          </a:prstGeom>
          <a:solidFill>
            <a:srgbClr val="E91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1078992"/>
            <a:ext cx="1417320" cy="2340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8%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74320" y="40233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920240" y="1078992"/>
            <a:ext cx="6949440" cy="530352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920240" y="1078992"/>
            <a:ext cx="73152" cy="530352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066544" y="110642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Catalyst Concentration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066544" y="1353312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critical factor — even 0.1% change in KOH/NaOH significantly impacts yield.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920240" y="1700784"/>
            <a:ext cx="6949440" cy="530352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920240" y="1700784"/>
            <a:ext cx="73152" cy="530352"/>
          </a:xfrm>
          <a:prstGeom prst="rect">
            <a:avLst/>
          </a:prstGeom>
          <a:solidFill>
            <a:srgbClr val="FF9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066544" y="172821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2066544" y="1975104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temperatures speed reaction but must not exceed 70°C (methanol evaporates).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920240" y="2322576"/>
            <a:ext cx="6949440" cy="530352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920240" y="2322576"/>
            <a:ext cx="73152" cy="530352"/>
          </a:xfrm>
          <a:prstGeom prst="rect">
            <a:avLst/>
          </a:prstGeom>
          <a:solidFill>
            <a:srgbClr val="4CAF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066544" y="235000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Reaction Time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2066544" y="2596896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is optimal; longer shows diminishing returns.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920240" y="2944368"/>
            <a:ext cx="6949440" cy="530352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1920240" y="2944368"/>
            <a:ext cx="73152" cy="530352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066544" y="297180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96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Oil Type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2066544" y="3218688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UCO gives slightly lower yield than soybean but is far more economical.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920240" y="3566160"/>
            <a:ext cx="6949440" cy="530352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1920240" y="3566160"/>
            <a:ext cx="73152" cy="530352"/>
          </a:xfrm>
          <a:prstGeom prst="rect">
            <a:avLst/>
          </a:prstGeom>
          <a:solidFill>
            <a:srgbClr val="E91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066544" y="359359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1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Methanol Ratio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2066544" y="3840480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6:1 molar ratio found optimal in this dataset.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IMPACT — India Context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28600" y="1078992"/>
            <a:ext cx="2743200" cy="1261872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1078992"/>
            <a:ext cx="2743200" cy="91440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117043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 Lakh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Tonnes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20040" y="18288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UCO generated annually in India (FSSAI data)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00400" y="1078992"/>
            <a:ext cx="2743200" cy="1261872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1078992"/>
            <a:ext cx="2743200" cy="91440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0" y="117043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~15%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291840" y="18288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import cost offset if all UCO converted to biodiesel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72200" y="1078992"/>
            <a:ext cx="2743200" cy="1261872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72200" y="1078992"/>
            <a:ext cx="2743200" cy="91440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72200" y="117043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 kg CO₂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263640" y="18288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litre of UCO biodiesel vs fossil diesel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56032" y="2542032"/>
            <a:ext cx="4206240" cy="1078992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74320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14400" y="26060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IOC's RUCO Initiative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65760" y="311810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"Repurpose Used Cooking Oil" — targets 220 crore litres of UCO annually for biodiesel production.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736592" y="2542032"/>
            <a:ext cx="4206240" cy="1078992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94960" y="26060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IOC's SATAT Scheme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909624" y="3127248"/>
            <a:ext cx="3914335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"Sustainable Alternative Towards Affordable Transportation" — our AI model extends this to biodiesel optimisation.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256032" y="3730752"/>
            <a:ext cx="4206240" cy="1078992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93192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4400" y="37947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Reduces Lab Work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34572" y="4334256"/>
            <a:ext cx="380882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can reduce the number of lab experiments from hundreds to just a few, saving crores in R&amp;D costs.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736592" y="3730752"/>
            <a:ext cx="4206240" cy="1078992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931920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94960" y="37947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Net-Zero Goal 2070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986996" y="4315968"/>
            <a:ext cx="3836963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litre of UCO biodiesel saves 2.5 kg CO₂ — directly supporting India's Paris Agreement commitment.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6012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228600" y="1078992"/>
            <a:ext cx="4206240" cy="1207008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1078992"/>
            <a:ext cx="4206240" cy="82296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28016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6968" y="118872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IoT-Based Smart Reactors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38328" y="1609344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in reactors connected to real-time ML models — auto-adjust conditions for maximum yield.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09160" y="1078992"/>
            <a:ext cx="4206240" cy="1207008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09160" y="1078992"/>
            <a:ext cx="4206240" cy="82296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28016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67528" y="118872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Prediction Dashboard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818888" y="1609344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Web/mobile app — plant operators enter parameters &amp; get instant yield prediction. Saves hours per batch.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228600" y="2377440"/>
            <a:ext cx="4206240" cy="1207008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228600" y="2377440"/>
            <a:ext cx="4206240" cy="82296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2578608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86968" y="248716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 (LSTM)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338328" y="2907792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AI models to predict yield trends over long production campaigns for better planning.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709160" y="2377440"/>
            <a:ext cx="4206240" cy="1207008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709160" y="2377440"/>
            <a:ext cx="4206240" cy="82296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2578608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67528" y="248716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Blockchain Traceability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818888" y="2907792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UCO from restaurants to final biodiesel on blockchain — prevents adulteration, builds trust.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228600" y="3675888"/>
            <a:ext cx="4206240" cy="1207008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228600" y="3675888"/>
            <a:ext cx="4206240" cy="82296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" y="3877056"/>
            <a:ext cx="457200" cy="4572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86968" y="378561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Agriculture Integration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338328" y="4206240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crop yield forecasts to biodiesel planning — end-to-end sustainability from farm to fuel pump.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709160" y="3675888"/>
            <a:ext cx="4206240" cy="1207008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4709160" y="3675888"/>
            <a:ext cx="4206240" cy="82296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8888" y="3877056"/>
            <a:ext cx="457200" cy="45720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367528" y="378561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Multi-Output Models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4818888" y="4206240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both biodiesel yield AND glycerol quality simultaneously to maximise overall value.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8595360" cy="420624"/>
          </a:xfrm>
          <a:prstGeom prst="rect">
            <a:avLst/>
          </a:prstGeom>
          <a:solidFill>
            <a:srgbClr val="F0EAD8"/>
          </a:solidFill>
          <a:ln w="6350">
            <a:solidFill>
              <a:srgbClr val="D6D0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78992"/>
            <a:ext cx="54864" cy="420624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11155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Arunyanart P. et al. (2024). The prediction of biodiesel production yield from transesterification of vegetable oils with machine learning. Renewable Energy Journal, Vol. 24, pp. 452–463. [sciencedirect.com]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8595360" cy="420624"/>
          </a:xfrm>
          <a:prstGeom prst="rect">
            <a:avLst/>
          </a:prstGeom>
          <a:solidFill>
            <a:srgbClr val="FAF7F0"/>
          </a:solidFill>
          <a:ln w="6350">
            <a:solidFill>
              <a:srgbClr val="D6D0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572768"/>
            <a:ext cx="54864" cy="420624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60934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Nair R. &amp; Pradeep T. (2023). XGBoost-based optimisation of jatropha biodiesel yield in Karnataka. Bioresource Technology Reports, 21, 101378.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066544"/>
            <a:ext cx="8595360" cy="420624"/>
          </a:xfrm>
          <a:prstGeom prst="rect">
            <a:avLst/>
          </a:prstGeom>
          <a:solidFill>
            <a:srgbClr val="F0EAD8"/>
          </a:solidFill>
          <a:ln w="6350">
            <a:solidFill>
              <a:srgbClr val="D6D0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066544"/>
            <a:ext cx="54864" cy="420624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2103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Ighose B.O. et al. (2021). Random Forest regression for transesterification yield prediction. Fuel Processing Technology, 214, 106724.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560320"/>
            <a:ext cx="8595360" cy="420624"/>
          </a:xfrm>
          <a:prstGeom prst="rect">
            <a:avLst/>
          </a:prstGeom>
          <a:solidFill>
            <a:srgbClr val="FAF7F0"/>
          </a:solidFill>
          <a:ln w="6350">
            <a:solidFill>
              <a:srgbClr val="D6D0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560320"/>
            <a:ext cx="54864" cy="420624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259689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Bharathiraja B. et al. (2020). Artificial Intelligence in Biofuel Production — A Review. Renewable and Sustainable Energy Reviews, 127, 109888.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054096"/>
            <a:ext cx="8595360" cy="420624"/>
          </a:xfrm>
          <a:prstGeom prst="rect">
            <a:avLst/>
          </a:prstGeom>
          <a:solidFill>
            <a:srgbClr val="F0EAD8"/>
          </a:solidFill>
          <a:ln w="6350">
            <a:solidFill>
              <a:srgbClr val="D6D0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054096"/>
            <a:ext cx="54864" cy="420624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30906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FSSAI (2022). Repurpose Used Cooking Oil (RUCO) Programme Report. Food Safety and Standards Authority of India, New Delhi.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547872"/>
            <a:ext cx="8595360" cy="420624"/>
          </a:xfrm>
          <a:prstGeom prst="rect">
            <a:avLst/>
          </a:prstGeom>
          <a:solidFill>
            <a:srgbClr val="FAF7F0"/>
          </a:solidFill>
          <a:ln w="6350">
            <a:solidFill>
              <a:srgbClr val="D6D0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547872"/>
            <a:ext cx="54864" cy="420624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35844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Indian Oil Corporation Ltd. (2023). Annual Sustainability Report. Biodiesel and Alternate Fuels Division.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4041648"/>
            <a:ext cx="8595360" cy="420624"/>
          </a:xfrm>
          <a:prstGeom prst="rect">
            <a:avLst/>
          </a:prstGeom>
          <a:solidFill>
            <a:srgbClr val="F0EAD8"/>
          </a:solidFill>
          <a:ln w="6350">
            <a:solidFill>
              <a:srgbClr val="D6D0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4041648"/>
            <a:ext cx="54864" cy="420624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407822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Dataset: Kaggle — Biodiesel Transesterification Yield [kaggle.com/datasets/biodiesel-transesterification-yield]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535424"/>
            <a:ext cx="8595360" cy="420624"/>
          </a:xfrm>
          <a:prstGeom prst="rect">
            <a:avLst/>
          </a:prstGeom>
          <a:solidFill>
            <a:srgbClr val="FAF7F0"/>
          </a:solidFill>
          <a:ln w="6350">
            <a:solidFill>
              <a:srgbClr val="D6D0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535424"/>
            <a:ext cx="54864" cy="420624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45720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UCI Machine Learning Repository: archive.ics.uci.edu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331720"/>
            <a:ext cx="8595360" cy="36576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3337560"/>
            <a:ext cx="8595360" cy="36576"/>
          </a:xfrm>
          <a:prstGeom prst="rect">
            <a:avLst/>
          </a:prstGeom>
          <a:solidFill>
            <a:srgbClr val="C896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kern="0" spc="800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274320" y="242316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342900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Optimisation &amp; Prediction of Biodiesel Production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6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Agricultural Sciences, Bengaluru  |  EAI-421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429768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</TotalTime>
  <Words>2321</Words>
  <Application>Microsoft Office PowerPoint</Application>
  <PresentationFormat>On-screen Show (16:9)</PresentationFormat>
  <Paragraphs>540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Biodiesel Optimisation</dc:title>
  <dc:subject>PptxGenJS Presentation</dc:subject>
  <dc:creator>UAS Bengaluru – AI &amp; ML in Agriculture</dc:creator>
  <cp:lastModifiedBy>SHUBHAM GHOSHAL</cp:lastModifiedBy>
  <cp:revision>2</cp:revision>
  <dcterms:created xsi:type="dcterms:W3CDTF">2026-04-01T17:39:44Z</dcterms:created>
  <dcterms:modified xsi:type="dcterms:W3CDTF">2026-04-01T18:54:48Z</dcterms:modified>
</cp:coreProperties>
</file>